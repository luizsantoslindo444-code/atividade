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256" r:id="rId4"/>
    <p:sldId id="257" r:id="rId5"/>
    <p:sldId id="258" r:id="rId6"/>
    <p:sldId id="267" r:id="rId7"/>
    <p:sldId id="262" r:id="rId8"/>
    <p:sldId id="263" r:id="rId9"/>
    <p:sldId id="266" r:id="rId10"/>
    <p:sldId id="264" r:id="rId11"/>
    <p:sldId id="265" r:id="rId12"/>
    <p:sldId id="259" r:id="rId13"/>
    <p:sldId id="261" r:id="rId14"/>
  </p:sldIdLst>
  <p:sldSz cx="12192000" cy="6858000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ENATA" initials="R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A2EC0E-3A60-4B0B-A9BF-3CB2279CC864}" v="28" dt="2025-05-22T21:51:34.2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486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21" Type="http://schemas.microsoft.com/office/2015/10/relationships/revisionInfo" Target="revisionInfo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commentAuthors" Target="commentAuthors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ata Costa" userId="c96d403436fc1ebf" providerId="LiveId" clId="{3DA2EC0E-3A60-4B0B-A9BF-3CB2279CC864}"/>
    <pc:docChg chg="undo custSel addSld modSld">
      <pc:chgData name="Renata Costa" userId="c96d403436fc1ebf" providerId="LiveId" clId="{3DA2EC0E-3A60-4B0B-A9BF-3CB2279CC864}" dt="2025-05-22T21:53:12.556" v="415" actId="6549"/>
      <pc:docMkLst>
        <pc:docMk/>
      </pc:docMkLst>
      <pc:sldChg chg="modSp mod">
        <pc:chgData name="Renata Costa" userId="c96d403436fc1ebf" providerId="LiveId" clId="{3DA2EC0E-3A60-4B0B-A9BF-3CB2279CC864}" dt="2025-05-22T21:53:12.556" v="415" actId="6549"/>
        <pc:sldMkLst>
          <pc:docMk/>
          <pc:sldMk cId="0" sldId="257"/>
        </pc:sldMkLst>
        <pc:spChg chg="mod">
          <ac:chgData name="Renata Costa" userId="c96d403436fc1ebf" providerId="LiveId" clId="{3DA2EC0E-3A60-4B0B-A9BF-3CB2279CC864}" dt="2025-05-22T21:43:01.032" v="3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Renata Costa" userId="c96d403436fc1ebf" providerId="LiveId" clId="{3DA2EC0E-3A60-4B0B-A9BF-3CB2279CC864}" dt="2025-05-22T21:53:12.556" v="415" actId="6549"/>
          <ac:spMkLst>
            <pc:docMk/>
            <pc:sldMk cId="0" sldId="257"/>
            <ac:spMk id="8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43:06.429" v="16" actId="20577"/>
          <ac:spMkLst>
            <pc:docMk/>
            <pc:sldMk cId="0" sldId="257"/>
            <ac:spMk id="9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49:05.696" v="206" actId="20577"/>
          <ac:spMkLst>
            <pc:docMk/>
            <pc:sldMk cId="0" sldId="257"/>
            <ac:spMk id="10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50:19.630" v="298" actId="20577"/>
          <ac:spMkLst>
            <pc:docMk/>
            <pc:sldMk cId="0" sldId="257"/>
            <ac:spMk id="3076" creationId="{2153AA99-8F89-44F6-89BE-50ADB104D03D}"/>
          </ac:spMkLst>
        </pc:spChg>
      </pc:sldChg>
      <pc:sldChg chg="addSp modSp mod modCm">
        <pc:chgData name="Renata Costa" userId="c96d403436fc1ebf" providerId="LiveId" clId="{3DA2EC0E-3A60-4B0B-A9BF-3CB2279CC864}" dt="2025-05-22T21:51:12.414" v="346"/>
        <pc:sldMkLst>
          <pc:docMk/>
          <pc:sldMk cId="0" sldId="258"/>
        </pc:sldMkLst>
        <pc:spChg chg="mod">
          <ac:chgData name="Renata Costa" userId="c96d403436fc1ebf" providerId="LiveId" clId="{3DA2EC0E-3A60-4B0B-A9BF-3CB2279CC864}" dt="2025-05-22T21:50:59.816" v="344" actId="6549"/>
          <ac:spMkLst>
            <pc:docMk/>
            <pc:sldMk cId="0" sldId="258"/>
            <ac:spMk id="4100" creationId="{D09F245C-E224-40FB-B22C-C18326684718}"/>
          </ac:spMkLst>
        </pc:spChg>
        <pc:picChg chg="add mod">
          <ac:chgData name="Renata Costa" userId="c96d403436fc1ebf" providerId="LiveId" clId="{3DA2EC0E-3A60-4B0B-A9BF-3CB2279CC864}" dt="2025-05-22T21:51:12.414" v="346"/>
          <ac:picMkLst>
            <pc:docMk/>
            <pc:sldMk cId="0" sldId="258"/>
            <ac:picMk id="2" creationId="{825EFEA0-FEEF-25D4-44D2-3DE30B5CE709}"/>
          </ac:picMkLst>
        </pc:picChg>
      </pc:sldChg>
      <pc:sldChg chg="addSp delSp modSp mod modCm">
        <pc:chgData name="Renata Costa" userId="c96d403436fc1ebf" providerId="LiveId" clId="{3DA2EC0E-3A60-4B0B-A9BF-3CB2279CC864}" dt="2025-05-22T21:45:25.345" v="64"/>
        <pc:sldMkLst>
          <pc:docMk/>
          <pc:sldMk cId="1004270343" sldId="262"/>
        </pc:sldMkLst>
        <pc:spChg chg="add mod">
          <ac:chgData name="Renata Costa" userId="c96d403436fc1ebf" providerId="LiveId" clId="{3DA2EC0E-3A60-4B0B-A9BF-3CB2279CC864}" dt="2025-05-22T21:45:09.967" v="63" actId="1076"/>
          <ac:spMkLst>
            <pc:docMk/>
            <pc:sldMk cId="1004270343" sldId="262"/>
            <ac:spMk id="2" creationId="{3C6B2C7A-E59D-5A67-500D-5262D5121C16}"/>
          </ac:spMkLst>
        </pc:spChg>
        <pc:spChg chg="del mod">
          <ac:chgData name="Renata Costa" userId="c96d403436fc1ebf" providerId="LiveId" clId="{3DA2EC0E-3A60-4B0B-A9BF-3CB2279CC864}" dt="2025-05-22T21:44:09.667" v="42" actId="478"/>
          <ac:spMkLst>
            <pc:docMk/>
            <pc:sldMk cId="1004270343" sldId="262"/>
            <ac:spMk id="4100" creationId="{D09F245C-E224-40FB-B22C-C18326684718}"/>
          </ac:spMkLst>
        </pc:spChg>
        <pc:picChg chg="mod">
          <ac:chgData name="Renata Costa" userId="c96d403436fc1ebf" providerId="LiveId" clId="{3DA2EC0E-3A60-4B0B-A9BF-3CB2279CC864}" dt="2025-05-22T21:44:23.530" v="48" actId="1076"/>
          <ac:picMkLst>
            <pc:docMk/>
            <pc:sldMk cId="1004270343" sldId="262"/>
            <ac:picMk id="4099" creationId="{A9EB0ED6-083B-4BFA-9C57-A71D9212A144}"/>
          </ac:picMkLst>
        </pc:picChg>
      </pc:sldChg>
      <pc:sldChg chg="addSp delSp modSp mod">
        <pc:chgData name="Renata Costa" userId="c96d403436fc1ebf" providerId="LiveId" clId="{3DA2EC0E-3A60-4B0B-A9BF-3CB2279CC864}" dt="2025-05-22T21:46:19.352" v="113"/>
        <pc:sldMkLst>
          <pc:docMk/>
          <pc:sldMk cId="2149392476" sldId="263"/>
        </pc:sldMkLst>
        <pc:spChg chg="add del">
          <ac:chgData name="Renata Costa" userId="c96d403436fc1ebf" providerId="LiveId" clId="{3DA2EC0E-3A60-4B0B-A9BF-3CB2279CC864}" dt="2025-05-22T21:45:36.266" v="67" actId="22"/>
          <ac:spMkLst>
            <pc:docMk/>
            <pc:sldMk cId="2149392476" sldId="263"/>
            <ac:spMk id="3" creationId="{B6818BE9-28B0-787C-3CFD-F8A72C475623}"/>
          </ac:spMkLst>
        </pc:spChg>
        <pc:spChg chg="add mod">
          <ac:chgData name="Renata Costa" userId="c96d403436fc1ebf" providerId="LiveId" clId="{3DA2EC0E-3A60-4B0B-A9BF-3CB2279CC864}" dt="2025-05-22T21:46:19.352" v="113"/>
          <ac:spMkLst>
            <pc:docMk/>
            <pc:sldMk cId="2149392476" sldId="263"/>
            <ac:spMk id="4" creationId="{01DEED65-4293-70B7-FE9D-9EBEBFE6AC1C}"/>
          </ac:spMkLst>
        </pc:spChg>
        <pc:spChg chg="del">
          <ac:chgData name="Renata Costa" userId="c96d403436fc1ebf" providerId="LiveId" clId="{3DA2EC0E-3A60-4B0B-A9BF-3CB2279CC864}" dt="2025-05-22T21:45:32.597" v="65" actId="478"/>
          <ac:spMkLst>
            <pc:docMk/>
            <pc:sldMk cId="2149392476" sldId="263"/>
            <ac:spMk id="4100" creationId="{D09F245C-E224-40FB-B22C-C18326684718}"/>
          </ac:spMkLst>
        </pc:spChg>
      </pc:sldChg>
      <pc:sldChg chg="addSp delSp modSp modCm">
        <pc:chgData name="Renata Costa" userId="c96d403436fc1ebf" providerId="LiveId" clId="{3DA2EC0E-3A60-4B0B-A9BF-3CB2279CC864}" dt="2025-05-22T21:47:32.530" v="122"/>
        <pc:sldMkLst>
          <pc:docMk/>
          <pc:sldMk cId="3575197018" sldId="264"/>
        </pc:sldMkLst>
        <pc:spChg chg="add mod">
          <ac:chgData name="Renata Costa" userId="c96d403436fc1ebf" providerId="LiveId" clId="{3DA2EC0E-3A60-4B0B-A9BF-3CB2279CC864}" dt="2025-05-22T21:47:09.085" v="121" actId="1076"/>
          <ac:spMkLst>
            <pc:docMk/>
            <pc:sldMk cId="3575197018" sldId="264"/>
            <ac:spMk id="2" creationId="{3BAA0655-280C-904A-F03E-0947DA860559}"/>
          </ac:spMkLst>
        </pc:spChg>
        <pc:spChg chg="del">
          <ac:chgData name="Renata Costa" userId="c96d403436fc1ebf" providerId="LiveId" clId="{3DA2EC0E-3A60-4B0B-A9BF-3CB2279CC864}" dt="2025-05-22T21:46:50.602" v="116" actId="478"/>
          <ac:spMkLst>
            <pc:docMk/>
            <pc:sldMk cId="3575197018" sldId="264"/>
            <ac:spMk id="4100" creationId="{D09F245C-E224-40FB-B22C-C18326684718}"/>
          </ac:spMkLst>
        </pc:spChg>
        <pc:picChg chg="mod">
          <ac:chgData name="Renata Costa" userId="c96d403436fc1ebf" providerId="LiveId" clId="{3DA2EC0E-3A60-4B0B-A9BF-3CB2279CC864}" dt="2025-05-22T21:46:57.392" v="119" actId="1076"/>
          <ac:picMkLst>
            <pc:docMk/>
            <pc:sldMk cId="3575197018" sldId="264"/>
            <ac:picMk id="9" creationId="{A9EB0ED6-083B-4BFA-9C57-A71D9212A144}"/>
          </ac:picMkLst>
        </pc:picChg>
      </pc:sldChg>
      <pc:sldChg chg="delSp modSp mod modCm">
        <pc:chgData name="Renata Costa" userId="c96d403436fc1ebf" providerId="LiveId" clId="{3DA2EC0E-3A60-4B0B-A9BF-3CB2279CC864}" dt="2025-05-22T21:48:42.792" v="204" actId="6549"/>
        <pc:sldMkLst>
          <pc:docMk/>
          <pc:sldMk cId="1283984288" sldId="265"/>
        </pc:sldMkLst>
        <pc:spChg chg="mod">
          <ac:chgData name="Renata Costa" userId="c96d403436fc1ebf" providerId="LiveId" clId="{3DA2EC0E-3A60-4B0B-A9BF-3CB2279CC864}" dt="2025-05-22T21:48:42.792" v="204" actId="6549"/>
          <ac:spMkLst>
            <pc:docMk/>
            <pc:sldMk cId="1283984288" sldId="265"/>
            <ac:spMk id="4100" creationId="{D09F245C-E224-40FB-B22C-C18326684718}"/>
          </ac:spMkLst>
        </pc:spChg>
        <pc:picChg chg="del">
          <ac:chgData name="Renata Costa" userId="c96d403436fc1ebf" providerId="LiveId" clId="{3DA2EC0E-3A60-4B0B-A9BF-3CB2279CC864}" dt="2025-05-22T21:47:39.309" v="123" actId="478"/>
          <ac:picMkLst>
            <pc:docMk/>
            <pc:sldMk cId="1283984288" sldId="265"/>
            <ac:picMk id="10" creationId="{00000000-0000-0000-0000-000000000000}"/>
          </ac:picMkLst>
        </pc:picChg>
      </pc:sldChg>
      <pc:sldChg chg="addSp delSp modSp">
        <pc:chgData name="Renata Costa" userId="c96d403436fc1ebf" providerId="LiveId" clId="{3DA2EC0E-3A60-4B0B-A9BF-3CB2279CC864}" dt="2025-05-22T21:46:32.570" v="115"/>
        <pc:sldMkLst>
          <pc:docMk/>
          <pc:sldMk cId="3472418953" sldId="266"/>
        </pc:sldMkLst>
        <pc:spChg chg="add mod">
          <ac:chgData name="Renata Costa" userId="c96d403436fc1ebf" providerId="LiveId" clId="{3DA2EC0E-3A60-4B0B-A9BF-3CB2279CC864}" dt="2025-05-22T21:46:32.570" v="115"/>
          <ac:spMkLst>
            <pc:docMk/>
            <pc:sldMk cId="3472418953" sldId="266"/>
            <ac:spMk id="2" creationId="{BF27EDCF-BF92-8A03-B585-1969DD1D7166}"/>
          </ac:spMkLst>
        </pc:spChg>
        <pc:spChg chg="del">
          <ac:chgData name="Renata Costa" userId="c96d403436fc1ebf" providerId="LiveId" clId="{3DA2EC0E-3A60-4B0B-A9BF-3CB2279CC864}" dt="2025-05-22T21:46:31.642" v="114" actId="478"/>
          <ac:spMkLst>
            <pc:docMk/>
            <pc:sldMk cId="3472418953" sldId="266"/>
            <ac:spMk id="4100" creationId="{D09F245C-E224-40FB-B22C-C18326684718}"/>
          </ac:spMkLst>
        </pc:spChg>
      </pc:sldChg>
      <pc:sldChg chg="modSp add mod">
        <pc:chgData name="Renata Costa" userId="c96d403436fc1ebf" providerId="LiveId" clId="{3DA2EC0E-3A60-4B0B-A9BF-3CB2279CC864}" dt="2025-05-22T21:51:50.364" v="384" actId="20577"/>
        <pc:sldMkLst>
          <pc:docMk/>
          <pc:sldMk cId="2028430281" sldId="267"/>
        </pc:sldMkLst>
        <pc:spChg chg="mod">
          <ac:chgData name="Renata Costa" userId="c96d403436fc1ebf" providerId="LiveId" clId="{3DA2EC0E-3A60-4B0B-A9BF-3CB2279CC864}" dt="2025-05-22T21:51:50.364" v="384" actId="20577"/>
          <ac:spMkLst>
            <pc:docMk/>
            <pc:sldMk cId="2028430281" sldId="267"/>
            <ac:spMk id="4100" creationId="{55F3FA2C-B60D-0465-6983-3F4AE419EBED}"/>
          </ac:spMkLst>
        </pc:sp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4">
    <p:pos x="3004" y="382"/>
    <p:text>Problemática
Justificativa
Objetivo Geral
Objetivos Específicos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10">
    <p:pos x="3004" y="382"/>
    <p:text>Problemática
Justificativa
Objetivo Geral
Objetivos Específicos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5:59.687" idx="5">
    <p:pos x="6900" y="298"/>
    <p:text>NÃO MUDAR ESSA FRASE: é uma abordagem qualitativa, de natureza teórica, sem procedimentos práticos e baseados em referenciais teóricos.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6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7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1:17.556" idx="8">
    <p:pos x="4500" y="846"/>
    <p:text>Relevância da pesquisa
Proposição de outros estudos e dos estudos práticos (desenvolvimento do sistema)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2:14.520" idx="9">
    <p:pos x="3404" y="394"/>
    <p:text>As utilizadas no resumo
somentes as citadas no resumo. No formato ABNT</p:tex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54BF1D-9063-4BEE-8C72-9172F3A10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0633D-40BE-4823-9D70-E90BB7E20D1C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69E3E4-B284-4FE0-B385-0F8C00EF3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5AF429-F4C5-4AE9-85EC-F9081058D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376E9B-F499-4203-B2B7-B90579D709D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208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09E057-8CC4-4B72-9DC1-A31421810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E774B-487E-45DD-9EDF-6BED9A23258C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A54BED-FCEE-4716-B9AD-92F175B41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60C75F-45BA-47EC-BF95-DB68E04D4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504699-A3AE-447D-826C-41FBB7146AD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4076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680335-1A72-4BAF-9C76-726DB6793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E496CB-9C79-4F24-8900-BEAF2F43C272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4608FB-BD3D-43E9-987C-7A569FA60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923D7B-8A56-4460-BE44-AECAC8F96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E72C3A-DFB6-4362-8AA1-77746B1B40D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334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81376A55-6023-45D0-B48D-15049DA29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73C6A4-A5A0-4D45-846F-65CCFFEEC21A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4080E98E-C07A-4400-8991-186F4B90F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15AC8817-6596-40C4-A8E0-8FFAC94E2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E2781E-1EB2-4E16-A791-F5211820C14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1018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2861D758-1FE0-4971-BE41-9F6028AAC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22D825-50E8-407D-964F-390DD4A6EBBE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DE358DC8-9B77-498D-8753-A078F1212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2CE94B5D-1616-4C55-A89B-40ECCC078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2693F5-9C85-43CB-B7E0-FB01AAC861D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0518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BA2D40DB-7005-4836-B972-A18333792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B099B0-8A28-4091-9FCE-463505D2C396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8A1047F2-59FB-44FD-BD83-11D13BCA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AB6F6D58-2A68-431F-BD29-0AD166C30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D1B0F8-74DD-4CFD-9ECB-AEA8D334A80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957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4DCEA456-5F93-42B8-90D3-B80767151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7A9671-140B-4CAD-94EE-9C8FE680A172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D4872FA2-4B83-4B64-8CCD-4099798E4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2DF0C6A5-97D8-446D-8FB0-32AFAFF2C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73105E-A30B-4646-AAA3-D14AC42A754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401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5C0CF51B-150F-4068-9B69-BE5A440BF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62EE6E-4B83-4D73-9FEE-DE8B52599F73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6E956705-34F3-4C04-8055-8FC6BB755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A4CA0301-8D71-4A14-AF5C-73E8B5D2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0A42F-E3C1-4FE4-BAB8-FE2E13519CF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0993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C6A6CFAF-0039-4742-BF82-6A3297D59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D17BCC-C147-4A22-9D3F-1A183D22AB45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7001FB79-1E19-4F7F-AABA-F8DD36486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027E90B3-6B96-499F-B52E-480CED0BB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984595-D2D9-4499-BBBF-2895162EC21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4383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837088-123D-4E52-B5EE-F08245DEC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C92DF3-17FE-4197-A72D-5EC4B2ABA984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B51A36-6804-4661-B7CE-7F105145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EA23DC-5335-4790-8FE8-A9D877E7A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9F0D61-2AED-4ECA-9E41-BCE1FB0F7CE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7967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577FD3-66D5-44AA-9AEA-1638DCFEC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ADCA3-6B48-42C4-B0DF-65A35F6686A5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20080C-E1B6-48A7-AAA3-3B83BC5E9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0622DC-C128-40FE-9C25-D2F199A0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654256-EFD0-4C01-8578-2EF66A3C434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9957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77D4EDEA-CACC-4B35-A5FD-343ED0E89A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3E47DE05-9267-49D0-929B-B874559012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de texto Mestres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D47411-213C-4A24-A115-2F843872FE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0998AB7-6241-4527-818B-1F510D3FF9C9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C4DAFF-9CD9-46A5-9816-EAB3A142CD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60DC86-0528-45D8-A884-FD62E2029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06AE7DB-D177-4AFD-9C5A-47E4B8C9750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comments" Target="../comments/comment7.xml"/><Relationship Id="rId4" Type="http://schemas.openxmlformats.org/officeDocument/2006/relationships/hyperlink" Target="https://repositorio.ifba.edu.br/xmlui/bitstream/handle/123456789/1217/tcc_Rafael%20Cesar.pdf?sequence=1&amp;isAllowed=y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ítulo 1">
            <a:extLst>
              <a:ext uri="{FF2B5EF4-FFF2-40B4-BE49-F238E27FC236}">
                <a16:creationId xmlns:a16="http://schemas.microsoft.com/office/drawing/2014/main" id="{35EB6B86-5848-4EE5-B863-DD00F306704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2051" name="Subtítulo 2">
            <a:extLst>
              <a:ext uri="{FF2B5EF4-FFF2-40B4-BE49-F238E27FC236}">
                <a16:creationId xmlns:a16="http://schemas.microsoft.com/office/drawing/2014/main" id="{EFAE6E1B-4A73-4637-B080-37FEF0FFBAE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pt-BR" altLang="pt-BR" dirty="0"/>
          </a:p>
        </p:txBody>
      </p:sp>
      <p:pic>
        <p:nvPicPr>
          <p:cNvPr id="2052" name="Imagem 4" descr="Gráfico, Gráfico de funil&#10;&#10;Descrição gerada automaticamente">
            <a:extLst>
              <a:ext uri="{FF2B5EF4-FFF2-40B4-BE49-F238E27FC236}">
                <a16:creationId xmlns:a16="http://schemas.microsoft.com/office/drawing/2014/main" id="{876DEAEF-F5B3-4719-8ED0-6E0EC47C6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Imagem 8" descr="Logotipo&#10;&#10;Descrição gerada automaticamente com confiança baixa">
            <a:extLst>
              <a:ext uri="{FF2B5EF4-FFF2-40B4-BE49-F238E27FC236}">
                <a16:creationId xmlns:a16="http://schemas.microsoft.com/office/drawing/2014/main" id="{AAD5FBF0-2170-4100-A44E-5DCD823B8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1638" y="2763837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ítulo 1">
            <a:extLst>
              <a:ext uri="{FF2B5EF4-FFF2-40B4-BE49-F238E27FC236}">
                <a16:creationId xmlns:a16="http://schemas.microsoft.com/office/drawing/2014/main" id="{D21B3ED0-D5BF-48AB-93CA-9B9E222924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3075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F7102E8A-CB45-4A10-AB16-9CFF74D650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07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629295"/>
            <a:ext cx="4262438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sz="4000" b="1" dirty="0"/>
              <a:t>Acessibilidade digital para pessoas com deficiência visual:</a:t>
            </a:r>
            <a:endParaRPr lang="pt-BR" altLang="pt-BR" sz="4000" b="1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7675" y="2237462"/>
            <a:ext cx="3234906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12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Profa. Renata Costa, Me</a:t>
            </a:r>
          </a:p>
          <a:p>
            <a:pPr>
              <a:spcBef>
                <a:spcPct val="50000"/>
              </a:spcBef>
            </a:pPr>
            <a:r>
              <a:rPr lang="pt-BR" altLang="pt-BR" sz="12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Profa. Andrea Ono, </a:t>
            </a:r>
            <a:r>
              <a:rPr lang="pt-BR" altLang="pt-BR" sz="1200" b="1" dirty="0" err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Dr</a:t>
            </a:r>
            <a:endParaRPr lang="pt-BR" altLang="pt-BR" sz="1200" b="1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</a:pPr>
            <a:endParaRPr lang="pt-BR" altLang="pt-BR" sz="1200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Aluno </a:t>
            </a:r>
            <a:r>
              <a:rPr lang="pt-BR" altLang="pt-BR" sz="1200" dirty="0" smtClean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1:</a:t>
            </a:r>
            <a:r>
              <a:rPr lang="pt-BR" sz="1200" dirty="0"/>
              <a:t>Daniel </a:t>
            </a:r>
            <a:r>
              <a:rPr lang="pt-BR" sz="1200" dirty="0" err="1"/>
              <a:t>Pinarelli</a:t>
            </a:r>
            <a:r>
              <a:rPr lang="pt-BR" sz="1200" dirty="0"/>
              <a:t> dos Santos</a:t>
            </a:r>
            <a:endParaRPr lang="pt-BR" altLang="pt-BR" sz="1200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Aluno </a:t>
            </a:r>
            <a:r>
              <a:rPr lang="pt-BR" altLang="pt-BR" sz="1200" dirty="0" smtClean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2:</a:t>
            </a:r>
            <a:r>
              <a:rPr lang="pt-BR" altLang="pt-BR" sz="1200" dirty="0" smtClean="0"/>
              <a:t>José Luiz dos Santos</a:t>
            </a:r>
          </a:p>
          <a:p>
            <a:pPr>
              <a:spcBef>
                <a:spcPct val="50000"/>
              </a:spcBef>
            </a:pPr>
            <a:r>
              <a:rPr lang="pt-BR" altLang="pt-BR" sz="1200" dirty="0" smtClean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Aluno 3:</a:t>
            </a:r>
            <a:r>
              <a:rPr lang="pt-BR" sz="1200" dirty="0"/>
              <a:t>Leonan Vieira Alves</a:t>
            </a:r>
            <a:endParaRPr lang="pt-BR" altLang="pt-BR" sz="1200" dirty="0" smtClean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</a:pPr>
            <a:r>
              <a:rPr lang="pt-BR" altLang="pt-BR" sz="1200" dirty="0" smtClean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Aluno 4:</a:t>
            </a:r>
            <a:r>
              <a:rPr lang="pt-BR" sz="1200" dirty="0"/>
              <a:t>Luiz Henrique Domingues Dos Santos</a:t>
            </a:r>
            <a:endParaRPr lang="pt-BR" altLang="pt-BR" sz="1200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8181" y="5809519"/>
            <a:ext cx="304512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dirty="0">
                <a:solidFill>
                  <a:schemeClr val="bg1"/>
                </a:solidFill>
              </a:rPr>
              <a:t>Análise e </a:t>
            </a:r>
            <a:r>
              <a:rPr lang="pt-BR" dirty="0" smtClean="0">
                <a:solidFill>
                  <a:schemeClr val="bg1"/>
                </a:solidFill>
              </a:rPr>
              <a:t>Desenvolvimento de Sistemas (ADS)</a:t>
            </a:r>
            <a:endParaRPr lang="pt-BR" altLang="pt-BR" b="1" dirty="0">
              <a:solidFill>
                <a:schemeClr val="bg1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8499" y="3223068"/>
            <a:ext cx="406056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sz="2000" dirty="0"/>
              <a:t>análise das </a:t>
            </a:r>
            <a:r>
              <a:rPr lang="pt-BR" sz="2000" dirty="0" smtClean="0"/>
              <a:t>principais barreiras em sistemas </a:t>
            </a:r>
            <a:r>
              <a:rPr lang="pt-BR" sz="2000" dirty="0"/>
              <a:t>digitais e </a:t>
            </a:r>
            <a:r>
              <a:rPr lang="pt-BR" sz="2000" dirty="0" smtClean="0"/>
              <a:t>websites</a:t>
            </a:r>
            <a:endParaRPr lang="pt-BR" sz="2000" b="1" dirty="0">
              <a:solidFill>
                <a:srgbClr val="FF0000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  <p:pic>
        <p:nvPicPr>
          <p:cNvPr id="15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44" y="5931073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tângulo 1"/>
          <p:cNvSpPr/>
          <p:nvPr/>
        </p:nvSpPr>
        <p:spPr>
          <a:xfrm>
            <a:off x="10215847" y="5254109"/>
            <a:ext cx="1085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2025.1</a:t>
            </a:r>
          </a:p>
        </p:txBody>
      </p:sp>
      <p:sp>
        <p:nvSpPr>
          <p:cNvPr id="3" name="Retângulo 2"/>
          <p:cNvSpPr/>
          <p:nvPr/>
        </p:nvSpPr>
        <p:spPr>
          <a:xfrm>
            <a:off x="671849" y="4977110"/>
            <a:ext cx="1377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/>
              <a:t>Acessibilidade digital</a:t>
            </a:r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2049516" y="4977110"/>
            <a:ext cx="19549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/>
              <a:t>pessoas com deficiência visual</a:t>
            </a:r>
            <a:endParaRPr lang="pt-BR" dirty="0"/>
          </a:p>
        </p:txBody>
      </p:sp>
      <p:sp>
        <p:nvSpPr>
          <p:cNvPr id="5" name="Retângulo 4"/>
          <p:cNvSpPr/>
          <p:nvPr/>
        </p:nvSpPr>
        <p:spPr>
          <a:xfrm>
            <a:off x="4004441" y="4977110"/>
            <a:ext cx="15450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latin typeface="YACgEev4gKc_0"/>
              </a:rPr>
              <a:t>tecnologia</a:t>
            </a:r>
            <a:endParaRPr lang="pt-BR" dirty="0">
              <a:latin typeface="YACgEev4gKc_0"/>
            </a:endParaRPr>
          </a:p>
          <a:p>
            <a:r>
              <a:rPr lang="pt-BR" b="1" dirty="0">
                <a:latin typeface="YACgEev4gKc_0"/>
              </a:rPr>
              <a:t>ajustável</a:t>
            </a:r>
            <a:endParaRPr lang="pt-BR" dirty="0">
              <a:effectLst/>
              <a:latin typeface="YACgEev4gKc_0"/>
            </a:endParaRPr>
          </a:p>
        </p:txBody>
      </p:sp>
      <p:cxnSp>
        <p:nvCxnSpPr>
          <p:cNvPr id="11" name="Conector reto 10"/>
          <p:cNvCxnSpPr/>
          <p:nvPr/>
        </p:nvCxnSpPr>
        <p:spPr>
          <a:xfrm flipH="1">
            <a:off x="2031671" y="4801033"/>
            <a:ext cx="11898" cy="998483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>
            <a:off x="3998493" y="4801033"/>
            <a:ext cx="2973" cy="998483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  <p:sp>
        <p:nvSpPr>
          <p:cNvPr id="2" name="Retângulo 1"/>
          <p:cNvSpPr/>
          <p:nvPr/>
        </p:nvSpPr>
        <p:spPr>
          <a:xfrm>
            <a:off x="506410" y="1191201"/>
            <a:ext cx="34875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latin typeface="YACgEev4gKc_0"/>
              </a:rPr>
              <a:t>A inclusão digital</a:t>
            </a:r>
            <a:endParaRPr lang="pt-BR" dirty="0">
              <a:latin typeface="YACgEev4gKc_0"/>
            </a:endParaRPr>
          </a:p>
          <a:p>
            <a:r>
              <a:rPr lang="pt-BR" b="1" dirty="0">
                <a:latin typeface="YACgEev4gKc_0"/>
              </a:rPr>
              <a:t>começa na acessibilidade</a:t>
            </a:r>
            <a:endParaRPr lang="pt-BR" dirty="0">
              <a:effectLst/>
              <a:latin typeface="YACgEev4gKc_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506410" y="2055814"/>
            <a:ext cx="465608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latin typeface="YACgEev4gKc_0"/>
              </a:rPr>
              <a:t>Sistemas digitais e websites estão cada vez</a:t>
            </a:r>
          </a:p>
          <a:p>
            <a:r>
              <a:rPr lang="pt-BR" dirty="0">
                <a:latin typeface="YACgEev4gKc_0"/>
              </a:rPr>
              <a:t>mais presentes no cotidiano</a:t>
            </a:r>
            <a:endParaRPr lang="pt-BR" dirty="0">
              <a:effectLst/>
              <a:latin typeface="YACgEev4gKc_0"/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503728" y="278266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>
                <a:latin typeface="YACgEev4gKc_0"/>
              </a:rPr>
              <a:t>Muitas pessoas com deficiência visual</a:t>
            </a:r>
          </a:p>
          <a:p>
            <a:r>
              <a:rPr lang="pt-BR" dirty="0">
                <a:latin typeface="YACgEev4gKc_0"/>
              </a:rPr>
              <a:t>enfrentam barreiras que limitam seu acesso</a:t>
            </a:r>
            <a:endParaRPr lang="pt-BR" dirty="0">
              <a:effectLst/>
              <a:latin typeface="YACgEev4gKc_0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523872" y="3580962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/>
              <a:t>Falhas comuns ainda impedem uma experiência digital plena e autônoma</a:t>
            </a:r>
          </a:p>
        </p:txBody>
      </p:sp>
      <p:sp>
        <p:nvSpPr>
          <p:cNvPr id="6" name="Retângulo 5"/>
          <p:cNvSpPr/>
          <p:nvPr/>
        </p:nvSpPr>
        <p:spPr>
          <a:xfrm>
            <a:off x="503728" y="432439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>
                <a:latin typeface="YACgEev4gKc_0"/>
              </a:rPr>
              <a:t>Acessibilidade deve ser incorporada desde</a:t>
            </a:r>
          </a:p>
          <a:p>
            <a:r>
              <a:rPr lang="pt-BR" dirty="0">
                <a:latin typeface="YACgEev4gKc_0"/>
              </a:rPr>
              <a:t>o desenvolvimento para garantir </a:t>
            </a:r>
            <a:r>
              <a:rPr lang="pt-BR" b="1" dirty="0">
                <a:latin typeface="YACgEev4gKc_0"/>
              </a:rPr>
              <a:t>inclusão de fato</a:t>
            </a:r>
            <a:endParaRPr lang="pt-BR" dirty="0">
              <a:effectLst/>
              <a:latin typeface="YACgEev4gKc_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C83F4-C754-5493-758B-064E4E9F6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EAACA6E4-00F2-A955-1957-4F467F6213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74C8AAD2-BFF4-21B8-4A87-79E7FD0BB2D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92303B23-9EE7-A945-ACCA-0ED7F7863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3199D05E-CDE1-B4DE-09A7-4775D5F5C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  <p:sp>
        <p:nvSpPr>
          <p:cNvPr id="2" name="Retângulo 1"/>
          <p:cNvSpPr/>
          <p:nvPr/>
        </p:nvSpPr>
        <p:spPr>
          <a:xfrm>
            <a:off x="506410" y="1397517"/>
            <a:ext cx="1565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/>
              <a:t>Objetivo Geral</a:t>
            </a:r>
            <a:endParaRPr lang="pt-BR" dirty="0"/>
          </a:p>
        </p:txBody>
      </p:sp>
      <p:sp>
        <p:nvSpPr>
          <p:cNvPr id="3" name="Retângulo 2"/>
          <p:cNvSpPr/>
          <p:nvPr/>
        </p:nvSpPr>
        <p:spPr>
          <a:xfrm>
            <a:off x="506410" y="1927782"/>
            <a:ext cx="6096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latin typeface="YACgEev4gKc_0"/>
              </a:rPr>
              <a:t>Analisar, a partir de estudos recentes,</a:t>
            </a:r>
          </a:p>
          <a:p>
            <a:r>
              <a:rPr lang="pt-BR" dirty="0">
                <a:latin typeface="YACgEev4gKc_0"/>
              </a:rPr>
              <a:t>os principais problemas de acessibilidade</a:t>
            </a:r>
          </a:p>
          <a:p>
            <a:r>
              <a:rPr lang="pt-BR" dirty="0">
                <a:latin typeface="YACgEev4gKc_0"/>
              </a:rPr>
              <a:t>em sistemas digitais</a:t>
            </a:r>
            <a:endParaRPr lang="pt-BR" dirty="0">
              <a:effectLst/>
              <a:latin typeface="YACgEev4gKc_0"/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506410" y="3211220"/>
            <a:ext cx="21819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/>
              <a:t>Objetivos Específicos</a:t>
            </a:r>
            <a:endParaRPr lang="pt-BR" dirty="0"/>
          </a:p>
        </p:txBody>
      </p:sp>
      <p:sp>
        <p:nvSpPr>
          <p:cNvPr id="5" name="Retângulo 4"/>
          <p:cNvSpPr/>
          <p:nvPr/>
        </p:nvSpPr>
        <p:spPr>
          <a:xfrm>
            <a:off x="506410" y="3747041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>
                <a:latin typeface="YACgEev4gKc_0"/>
              </a:rPr>
              <a:t>Discutir a importância da inclusão de</a:t>
            </a:r>
          </a:p>
          <a:p>
            <a:r>
              <a:rPr lang="pt-BR" dirty="0">
                <a:latin typeface="YACgEev4gKc_0"/>
              </a:rPr>
              <a:t>recursos de acessibilidade durante o</a:t>
            </a:r>
          </a:p>
          <a:p>
            <a:r>
              <a:rPr lang="pt-BR" dirty="0">
                <a:latin typeface="YACgEev4gKc_0"/>
              </a:rPr>
              <a:t>desenvolvimento</a:t>
            </a:r>
            <a:endParaRPr lang="pt-BR" dirty="0">
              <a:effectLst/>
              <a:latin typeface="YACgEev4gKc_0"/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506410" y="467037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/>
              <a:t>Identificar barreiras enfrentadas em websites para pessoas com deficiência visual</a:t>
            </a:r>
          </a:p>
        </p:txBody>
      </p:sp>
      <p:sp>
        <p:nvSpPr>
          <p:cNvPr id="9" name="Retângulo 8"/>
          <p:cNvSpPr/>
          <p:nvPr/>
        </p:nvSpPr>
        <p:spPr>
          <a:xfrm>
            <a:off x="506410" y="535064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>
                <a:latin typeface="YACgEev4gKc_0"/>
              </a:rPr>
              <a:t>Sintetizar práticas recomendadas para</a:t>
            </a:r>
          </a:p>
          <a:p>
            <a:r>
              <a:rPr lang="pt-BR" dirty="0">
                <a:latin typeface="YACgEev4gKc_0"/>
              </a:rPr>
              <a:t>tecnologias ajustáveis</a:t>
            </a:r>
            <a:endParaRPr lang="pt-BR" dirty="0">
              <a:effectLst/>
              <a:latin typeface="YACgEev4gKc_0"/>
            </a:endParaRPr>
          </a:p>
        </p:txBody>
      </p:sp>
    </p:spTree>
    <p:extLst>
      <p:ext uri="{BB962C8B-B14F-4D97-AF65-F5344CB8AC3E}">
        <p14:creationId xmlns:p14="http://schemas.microsoft.com/office/powerpoint/2010/main" val="2028430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7" name="Retângulo 6"/>
          <p:cNvSpPr/>
          <p:nvPr/>
        </p:nvSpPr>
        <p:spPr>
          <a:xfrm>
            <a:off x="6967507" y="3340941"/>
            <a:ext cx="4499279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2550" y="6030911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0066" y="777875"/>
            <a:ext cx="5723734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pt-BR"/>
            </a:defPPr>
            <a:lvl1pPr>
              <a:spcBef>
                <a:spcPct val="50000"/>
              </a:spcBef>
              <a:defRPr sz="3000" b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fontAlgn="base">
              <a:spcBef>
                <a:spcPct val="0"/>
              </a:spcBef>
              <a:spcAft>
                <a:spcPct val="0"/>
              </a:spcAft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pt-BR" altLang="pt-BR" dirty="0"/>
              <a:t>METODOLOGIA/MÉTODO DA PESQUISA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C6B2C7A-E59D-5A67-500D-5262D5121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0066" y="2055813"/>
            <a:ext cx="6130925" cy="795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r>
              <a:rPr lang="pt-BR" sz="1800" dirty="0">
                <a:effectLst/>
                <a:latin typeface="Segoe UI" panose="020B0502040204020203" pitchFamily="34" charset="0"/>
              </a:rPr>
              <a:t>É uma abordagem qualitativa, de natureza teórica, sem procedimentos práticos e baseados em referenciais teóricos. </a:t>
            </a:r>
            <a:endParaRPr lang="pt-BR" sz="18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5630066" y="2911308"/>
            <a:ext cx="32724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/>
              <a:t>Como conduzimos esta pesquisa</a:t>
            </a:r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6967507" y="3340941"/>
            <a:ext cx="461648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Levantamento bibliográfico e revisão de artigos sobre acessibilidade digital e uso de tecnologia por pessoas com deficiência visual</a:t>
            </a:r>
          </a:p>
        </p:txBody>
      </p:sp>
      <p:sp>
        <p:nvSpPr>
          <p:cNvPr id="10" name="Retângulo 9"/>
          <p:cNvSpPr/>
          <p:nvPr/>
        </p:nvSpPr>
        <p:spPr>
          <a:xfrm>
            <a:off x="6967507" y="4351283"/>
            <a:ext cx="4616481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/>
          <p:cNvSpPr/>
          <p:nvPr/>
        </p:nvSpPr>
        <p:spPr>
          <a:xfrm>
            <a:off x="6967507" y="4326886"/>
            <a:ext cx="46164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latin typeface="YACgEev4gKc_0"/>
              </a:rPr>
              <a:t>Seleção de estudos publicados</a:t>
            </a:r>
          </a:p>
          <a:p>
            <a:r>
              <a:rPr lang="pt-BR" dirty="0">
                <a:latin typeface="YACgEev4gKc_0"/>
              </a:rPr>
              <a:t>no período definido pela pesquisa</a:t>
            </a:r>
            <a:endParaRPr lang="pt-BR" dirty="0">
              <a:effectLst/>
              <a:latin typeface="YACgEev4gKc_0"/>
            </a:endParaRPr>
          </a:p>
        </p:txBody>
      </p:sp>
      <p:sp>
        <p:nvSpPr>
          <p:cNvPr id="11" name="Retângulo 10"/>
          <p:cNvSpPr/>
          <p:nvPr/>
        </p:nvSpPr>
        <p:spPr>
          <a:xfrm>
            <a:off x="6967507" y="5035832"/>
            <a:ext cx="4616481" cy="65317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/>
          <p:cNvSpPr/>
          <p:nvPr/>
        </p:nvSpPr>
        <p:spPr>
          <a:xfrm>
            <a:off x="6967507" y="5035832"/>
            <a:ext cx="46164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latin typeface="YACgEev4gKc_0"/>
              </a:rPr>
              <a:t>Análise dos objetivos, métodos, limitações e contribuições </a:t>
            </a:r>
            <a:r>
              <a:rPr lang="pt-BR" dirty="0" smtClean="0">
                <a:latin typeface="YACgEev4gKc_0"/>
              </a:rPr>
              <a:t>de cada </a:t>
            </a:r>
            <a:r>
              <a:rPr lang="pt-BR" dirty="0">
                <a:latin typeface="YACgEev4gKc_0"/>
              </a:rPr>
              <a:t>estudo</a:t>
            </a:r>
            <a:endParaRPr lang="pt-BR" dirty="0">
              <a:effectLst/>
              <a:latin typeface="YACgEev4gKc_0"/>
            </a:endParaRPr>
          </a:p>
        </p:txBody>
      </p:sp>
      <p:sp>
        <p:nvSpPr>
          <p:cNvPr id="12" name="Fluxograma: Conector 11"/>
          <p:cNvSpPr/>
          <p:nvPr/>
        </p:nvSpPr>
        <p:spPr>
          <a:xfrm>
            <a:off x="6222124" y="3567695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 smtClean="0"/>
              <a:t>1</a:t>
            </a:r>
            <a:endParaRPr lang="pt-BR" sz="2000" dirty="0"/>
          </a:p>
        </p:txBody>
      </p:sp>
      <p:sp>
        <p:nvSpPr>
          <p:cNvPr id="13" name="Fluxograma: Conector 12"/>
          <p:cNvSpPr/>
          <p:nvPr/>
        </p:nvSpPr>
        <p:spPr>
          <a:xfrm>
            <a:off x="6222124" y="4421451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 smtClean="0"/>
              <a:t>2</a:t>
            </a:r>
            <a:endParaRPr lang="pt-BR" sz="2000" dirty="0"/>
          </a:p>
        </p:txBody>
      </p:sp>
      <p:sp>
        <p:nvSpPr>
          <p:cNvPr id="14" name="Fluxograma: Conector 13"/>
          <p:cNvSpPr/>
          <p:nvPr/>
        </p:nvSpPr>
        <p:spPr>
          <a:xfrm>
            <a:off x="6222124" y="5130397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 smtClean="0"/>
              <a:t>3</a:t>
            </a:r>
            <a:endParaRPr lang="pt-BR" sz="2000" dirty="0"/>
          </a:p>
        </p:txBody>
      </p:sp>
      <p:cxnSp>
        <p:nvCxnSpPr>
          <p:cNvPr id="43" name="Conector reto 42"/>
          <p:cNvCxnSpPr>
            <a:stCxn id="12" idx="4"/>
            <a:endCxn id="13" idx="0"/>
          </p:cNvCxnSpPr>
          <p:nvPr/>
        </p:nvCxnSpPr>
        <p:spPr>
          <a:xfrm>
            <a:off x="6450724" y="4024895"/>
            <a:ext cx="0" cy="39655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6" name="Conector reto 45"/>
          <p:cNvCxnSpPr>
            <a:stCxn id="14" idx="0"/>
            <a:endCxn id="13" idx="4"/>
          </p:cNvCxnSpPr>
          <p:nvPr/>
        </p:nvCxnSpPr>
        <p:spPr>
          <a:xfrm flipV="1">
            <a:off x="6450724" y="4878651"/>
            <a:ext cx="0" cy="25174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4270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2" name="Retângulo 1"/>
          <p:cNvSpPr/>
          <p:nvPr/>
        </p:nvSpPr>
        <p:spPr>
          <a:xfrm>
            <a:off x="506410" y="1837662"/>
            <a:ext cx="53444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b="1" dirty="0"/>
              <a:t>Acessibilidade desde o desenvolvimento</a:t>
            </a:r>
            <a:endParaRPr lang="pt-BR" sz="2400" dirty="0"/>
          </a:p>
        </p:txBody>
      </p:sp>
      <p:sp>
        <p:nvSpPr>
          <p:cNvPr id="3" name="Retângulo 2"/>
          <p:cNvSpPr/>
          <p:nvPr/>
        </p:nvSpPr>
        <p:spPr>
          <a:xfrm>
            <a:off x="506410" y="2422568"/>
            <a:ext cx="5380122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pt-BR" dirty="0"/>
              <a:t>Considere </a:t>
            </a:r>
            <a:r>
              <a:rPr lang="pt-BR" dirty="0" err="1"/>
              <a:t>audiodescrição</a:t>
            </a:r>
            <a:r>
              <a:rPr lang="pt-BR" dirty="0"/>
              <a:t> e leitores de tela desde as primeiras etapas do </a:t>
            </a:r>
            <a:r>
              <a:rPr lang="pt-BR" dirty="0" smtClean="0"/>
              <a:t>projeto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pt-BR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pt-BR" dirty="0"/>
              <a:t>Corrigir barreiras depois da estruturação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pt-BR" dirty="0"/>
              <a:t>é mais complexo e caro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pt-BR" dirty="0" smtClean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pt-BR" dirty="0"/>
              <a:t>Envolva usuários reais durante o processo para validar soluções </a:t>
            </a:r>
            <a:r>
              <a:rPr lang="pt-BR" dirty="0" smtClean="0"/>
              <a:t>acessíveis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pt-BR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pt-BR" dirty="0"/>
              <a:t>Acessibilidade é </a:t>
            </a:r>
            <a:r>
              <a:rPr lang="pt-BR" b="1" dirty="0"/>
              <a:t>parte estrutural</a:t>
            </a:r>
            <a:r>
              <a:rPr lang="pt-BR" dirty="0"/>
              <a:t> do sistema, </a:t>
            </a:r>
            <a:r>
              <a:rPr lang="pt-BR" b="1" dirty="0"/>
              <a:t>não um recurso adicional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49392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Retângulo Arredondado 28"/>
          <p:cNvSpPr/>
          <p:nvPr/>
        </p:nvSpPr>
        <p:spPr>
          <a:xfrm>
            <a:off x="4627031" y="2393535"/>
            <a:ext cx="2483774" cy="372077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3" name="Retângulo 2"/>
          <p:cNvSpPr/>
          <p:nvPr/>
        </p:nvSpPr>
        <p:spPr>
          <a:xfrm>
            <a:off x="506410" y="1622088"/>
            <a:ext cx="422955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b="1" dirty="0"/>
              <a:t>Barreiras em websites e síntese crítica</a:t>
            </a:r>
            <a:endParaRPr lang="pt-BR" sz="2000" dirty="0"/>
          </a:p>
        </p:txBody>
      </p:sp>
      <p:sp>
        <p:nvSpPr>
          <p:cNvPr id="4" name="Retângulo 3"/>
          <p:cNvSpPr/>
          <p:nvPr/>
        </p:nvSpPr>
        <p:spPr>
          <a:xfrm>
            <a:off x="506410" y="2393535"/>
            <a:ext cx="16042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/>
              <a:t>Estudo de caso</a:t>
            </a:r>
            <a:endParaRPr lang="pt-BR" dirty="0"/>
          </a:p>
        </p:txBody>
      </p:sp>
      <p:sp>
        <p:nvSpPr>
          <p:cNvPr id="5" name="Retângulo 4"/>
          <p:cNvSpPr/>
          <p:nvPr/>
        </p:nvSpPr>
        <p:spPr>
          <a:xfrm>
            <a:off x="506410" y="2730599"/>
            <a:ext cx="413916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Análise de três websites brasileiros de notícias revelou falhas de acessibilidade recorrentes</a:t>
            </a:r>
          </a:p>
        </p:txBody>
      </p:sp>
      <p:sp>
        <p:nvSpPr>
          <p:cNvPr id="7" name="Retângulo 6"/>
          <p:cNvSpPr/>
          <p:nvPr/>
        </p:nvSpPr>
        <p:spPr>
          <a:xfrm>
            <a:off x="506410" y="4129492"/>
            <a:ext cx="34131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/>
              <a:t>Principais problemas encontrados</a:t>
            </a:r>
            <a:endParaRPr lang="pt-BR" dirty="0"/>
          </a:p>
        </p:txBody>
      </p:sp>
      <p:sp>
        <p:nvSpPr>
          <p:cNvPr id="10" name="Retângulo 9"/>
          <p:cNvSpPr/>
          <p:nvPr/>
        </p:nvSpPr>
        <p:spPr>
          <a:xfrm>
            <a:off x="506410" y="4614212"/>
            <a:ext cx="413916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YACgEev4gKc_0"/>
              </a:rPr>
              <a:t>Textos alternativos inadequados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YACgEev4gKc_0"/>
              </a:rPr>
              <a:t>Links mal estruturados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YACgEev4gKc_0"/>
              </a:rPr>
              <a:t>Código semântico incorreto</a:t>
            </a:r>
            <a:endParaRPr lang="pt-BR" dirty="0">
              <a:effectLst/>
              <a:latin typeface="YACgEev4gKc_0"/>
            </a:endParaRPr>
          </a:p>
        </p:txBody>
      </p:sp>
      <p:cxnSp>
        <p:nvCxnSpPr>
          <p:cNvPr id="12" name="Conector de Seta Reta 11"/>
          <p:cNvCxnSpPr/>
          <p:nvPr/>
        </p:nvCxnSpPr>
        <p:spPr>
          <a:xfrm>
            <a:off x="346841" y="2637751"/>
            <a:ext cx="10511" cy="101617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Conector de Seta Reta 14"/>
          <p:cNvCxnSpPr/>
          <p:nvPr/>
        </p:nvCxnSpPr>
        <p:spPr>
          <a:xfrm>
            <a:off x="346841" y="4498824"/>
            <a:ext cx="10511" cy="103871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Retângulo 18"/>
          <p:cNvSpPr/>
          <p:nvPr/>
        </p:nvSpPr>
        <p:spPr>
          <a:xfrm>
            <a:off x="4643183" y="2461458"/>
            <a:ext cx="15024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chemeClr val="accent2"/>
                </a:solidFill>
              </a:rPr>
              <a:t>Síntese crítica</a:t>
            </a:r>
            <a:endParaRPr lang="pt-BR" dirty="0">
              <a:solidFill>
                <a:schemeClr val="accent2"/>
              </a:solidFill>
            </a:endParaRPr>
          </a:p>
        </p:txBody>
      </p:sp>
      <p:sp>
        <p:nvSpPr>
          <p:cNvPr id="20" name="Retângulo 19"/>
          <p:cNvSpPr/>
          <p:nvPr/>
        </p:nvSpPr>
        <p:spPr>
          <a:xfrm>
            <a:off x="4627031" y="2798181"/>
            <a:ext cx="246062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YACgEev4gKc_0"/>
              </a:rPr>
              <a:t>Acessibilidade deve ser planejada desde o início</a:t>
            </a:r>
          </a:p>
          <a:p>
            <a:r>
              <a:rPr lang="pt-BR" dirty="0">
                <a:solidFill>
                  <a:schemeClr val="bg1"/>
                </a:solidFill>
                <a:latin typeface="YACgEev4gKc_0"/>
              </a:rPr>
              <a:t>do desenvolvimento</a:t>
            </a:r>
            <a:endParaRPr lang="pt-BR" dirty="0">
              <a:solidFill>
                <a:schemeClr val="bg1"/>
              </a:solidFill>
              <a:effectLst/>
              <a:latin typeface="YACgEev4gKc_0"/>
            </a:endParaRPr>
          </a:p>
        </p:txBody>
      </p:sp>
      <p:sp>
        <p:nvSpPr>
          <p:cNvPr id="21" name="Retângulo 20"/>
          <p:cNvSpPr/>
          <p:nvPr/>
        </p:nvSpPr>
        <p:spPr>
          <a:xfrm>
            <a:off x="4643183" y="3990652"/>
            <a:ext cx="244447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Recursos tecnológicos isolados não garantem experiência acessível</a:t>
            </a:r>
          </a:p>
        </p:txBody>
      </p:sp>
      <p:sp>
        <p:nvSpPr>
          <p:cNvPr id="22" name="Retângulo 21"/>
          <p:cNvSpPr/>
          <p:nvPr/>
        </p:nvSpPr>
        <p:spPr>
          <a:xfrm>
            <a:off x="4643183" y="4913982"/>
            <a:ext cx="252141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Combinação de ferramentas automáticas e testes com usuários reais é essencial</a:t>
            </a:r>
          </a:p>
        </p:txBody>
      </p:sp>
      <p:cxnSp>
        <p:nvCxnSpPr>
          <p:cNvPr id="24" name="Conector de Seta Reta 23"/>
          <p:cNvCxnSpPr/>
          <p:nvPr/>
        </p:nvCxnSpPr>
        <p:spPr>
          <a:xfrm>
            <a:off x="4768848" y="4913982"/>
            <a:ext cx="2318808" cy="785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/>
          <p:nvPr/>
        </p:nvCxnSpPr>
        <p:spPr>
          <a:xfrm>
            <a:off x="4735966" y="3998510"/>
            <a:ext cx="2351690" cy="2475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2418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112" y="6154737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844550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CONSIDERAÇÕES FINAIS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5508625" y="1968649"/>
            <a:ext cx="37214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Boas práticas de acessibilidade reduzem barreiras e ampliam a autonomia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5508625" y="2967335"/>
            <a:ext cx="381014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Diretrizes de acessibilidade devem ser</a:t>
            </a:r>
          </a:p>
          <a:p>
            <a:r>
              <a:rPr lang="pt-BR" dirty="0"/>
              <a:t>aplicadas com rigor</a:t>
            </a:r>
          </a:p>
          <a:p>
            <a:endParaRPr lang="pt-BR" dirty="0"/>
          </a:p>
        </p:txBody>
      </p:sp>
      <p:sp>
        <p:nvSpPr>
          <p:cNvPr id="5" name="CaixaDeTexto 4"/>
          <p:cNvSpPr txBox="1"/>
          <p:nvPr/>
        </p:nvSpPr>
        <p:spPr>
          <a:xfrm>
            <a:off x="5508625" y="3654912"/>
            <a:ext cx="437401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Testes com pessoas reais garantem soluções</a:t>
            </a:r>
          </a:p>
          <a:p>
            <a:r>
              <a:rPr lang="pt-BR" dirty="0"/>
              <a:t>mais eficazes e inclusivas</a:t>
            </a:r>
          </a:p>
          <a:p>
            <a:endParaRPr lang="pt-BR" dirty="0"/>
          </a:p>
        </p:txBody>
      </p:sp>
      <p:sp>
        <p:nvSpPr>
          <p:cNvPr id="7" name="CaixaDeTexto 6"/>
          <p:cNvSpPr txBox="1"/>
          <p:nvPr/>
        </p:nvSpPr>
        <p:spPr>
          <a:xfrm>
            <a:off x="5508625" y="4578242"/>
            <a:ext cx="382053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Tecnologias acessíveis constroem uma</a:t>
            </a:r>
          </a:p>
          <a:p>
            <a:r>
              <a:rPr lang="pt-BR" dirty="0"/>
              <a:t>sociedade mais justa e participativa</a:t>
            </a:r>
          </a:p>
          <a:p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575197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706" y="844549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REFERÊNCIA BIBLIOGRÁFICA</a:t>
            </a:r>
          </a:p>
        </p:txBody>
      </p:sp>
      <p:sp>
        <p:nvSpPr>
          <p:cNvPr id="2" name="Retângulo 1"/>
          <p:cNvSpPr/>
          <p:nvPr/>
        </p:nvSpPr>
        <p:spPr>
          <a:xfrm>
            <a:off x="570706" y="2055814"/>
            <a:ext cx="59921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MENDES, Bárbara Rodrigues; SIEVERS JUNIOR, </a:t>
            </a:r>
            <a:r>
              <a:rPr lang="pt-BR" dirty="0" err="1"/>
              <a:t>Fretz</a:t>
            </a:r>
            <a:r>
              <a:rPr lang="pt-BR" dirty="0"/>
              <a:t>. Análise de recursos de acessibilidade na web para deficientes visuais em websites brasileiros. </a:t>
            </a:r>
            <a:r>
              <a:rPr lang="pt-BR" i="1" dirty="0"/>
              <a:t>Revista Eletrônica Anima Terra</a:t>
            </a:r>
            <a:r>
              <a:rPr lang="pt-BR" dirty="0"/>
              <a:t>, n. 17, p. 1–14, 2023.</a:t>
            </a: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570706" y="3342319"/>
            <a:ext cx="5851609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pt-BR" dirty="0"/>
              <a:t>CESAR, Rafael Gomes. </a:t>
            </a:r>
            <a:r>
              <a:rPr lang="pt-BR" i="1" dirty="0"/>
              <a:t>Protótipo de uma aplicação web mobile voltado ao turismo de pessoas com deficiência visual</a:t>
            </a:r>
            <a:r>
              <a:rPr lang="pt-BR" dirty="0"/>
              <a:t>. 2026. Trabalho de Conclusão de Curso (Licenciatura em Computação) – Instituto Federal de Educação, Ciência e Tecnologia da Bahia, Campus Porto Seguro, Porto Seguro, 2026. Disponível em: </a:t>
            </a:r>
            <a:r>
              <a:rPr lang="pt-BR" dirty="0">
                <a:hlinkClick r:id="rId4"/>
              </a:rPr>
              <a:t>https://repositorio.ifba.edu.br/xmlui/bitstream/handle/123456789/1217/tcc_Rafael%20Cesar.pdf?sequence=1&amp;isAllowed=y</a:t>
            </a:r>
            <a:r>
              <a:rPr lang="pt-BR" dirty="0"/>
              <a:t>. Acesso em: 15 out. 2026.</a:t>
            </a:r>
          </a:p>
        </p:txBody>
      </p:sp>
    </p:spTree>
    <p:extLst>
      <p:ext uri="{BB962C8B-B14F-4D97-AF65-F5344CB8AC3E}">
        <p14:creationId xmlns:p14="http://schemas.microsoft.com/office/powerpoint/2010/main" val="1283984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ítulo 1">
            <a:extLst>
              <a:ext uri="{FF2B5EF4-FFF2-40B4-BE49-F238E27FC236}">
                <a16:creationId xmlns:a16="http://schemas.microsoft.com/office/drawing/2014/main" id="{EEF05124-4115-43F9-BCFF-F980C8F42D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5123" name="Espaço Reservado para Conteúdo 4" descr="Uma imagem contendo Retângulo&#10;&#10;Descrição gerada automaticamente">
            <a:extLst>
              <a:ext uri="{FF2B5EF4-FFF2-40B4-BE49-F238E27FC236}">
                <a16:creationId xmlns:a16="http://schemas.microsoft.com/office/drawing/2014/main" id="{8E1F7DDD-FF2A-43EE-909F-663635D2B2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5124" name="Text Box 6">
            <a:extLst>
              <a:ext uri="{FF2B5EF4-FFF2-40B4-BE49-F238E27FC236}">
                <a16:creationId xmlns:a16="http://schemas.microsoft.com/office/drawing/2014/main" id="{E223242B-36FC-4EDF-B7C1-F179D9876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8110" y="695490"/>
            <a:ext cx="4855779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sz="3200" b="1" dirty="0">
                <a:solidFill>
                  <a:schemeClr val="bg1"/>
                </a:solidFill>
              </a:rPr>
              <a:t>Agradecemos sua atenção e colaboração.</a:t>
            </a:r>
            <a:endParaRPr lang="pt-BR" altLang="pt-BR" sz="3200" dirty="0">
              <a:solidFill>
                <a:schemeClr val="bg1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3824595" y="2136338"/>
            <a:ext cx="4542807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accent2"/>
                </a:solidFill>
              </a:rPr>
              <a:t>Agradecemos a </a:t>
            </a:r>
            <a:r>
              <a:rPr lang="pt-BR" sz="2000" b="1" dirty="0">
                <a:solidFill>
                  <a:schemeClr val="accent2"/>
                </a:solidFill>
              </a:rPr>
              <a:t>orientação, às instituições</a:t>
            </a:r>
            <a:endParaRPr lang="pt-BR" sz="2000" dirty="0">
              <a:solidFill>
                <a:schemeClr val="accent2"/>
              </a:solidFill>
            </a:endParaRPr>
          </a:p>
          <a:p>
            <a:r>
              <a:rPr lang="pt-BR" sz="2000" dirty="0">
                <a:solidFill>
                  <a:schemeClr val="accent2"/>
                </a:solidFill>
              </a:rPr>
              <a:t>e a todos que contribuíram para este estudo</a:t>
            </a:r>
            <a:r>
              <a:rPr lang="pt-BR" sz="2000" dirty="0" smtClean="0">
                <a:solidFill>
                  <a:schemeClr val="accent2"/>
                </a:solidFill>
              </a:rPr>
              <a:t>.</a:t>
            </a:r>
          </a:p>
          <a:p>
            <a:endParaRPr lang="pt-BR" sz="2000" dirty="0">
              <a:solidFill>
                <a:schemeClr val="accent2"/>
              </a:solidFill>
            </a:endParaRPr>
          </a:p>
          <a:p>
            <a:r>
              <a:rPr lang="pt-BR" sz="2000" dirty="0">
                <a:solidFill>
                  <a:schemeClr val="accent2"/>
                </a:solidFill>
              </a:rPr>
              <a:t>Para dúvidas ou informações complementares,</a:t>
            </a:r>
          </a:p>
          <a:p>
            <a:r>
              <a:rPr lang="pt-BR" sz="2000" dirty="0">
                <a:solidFill>
                  <a:schemeClr val="accent2"/>
                </a:solidFill>
              </a:rPr>
              <a:t>estamos à disposição.</a:t>
            </a:r>
          </a:p>
          <a:p>
            <a:endParaRPr lang="pt-BR" sz="2000" dirty="0" smtClean="0">
              <a:solidFill>
                <a:schemeClr val="accent2"/>
              </a:solidFill>
            </a:endParaRPr>
          </a:p>
          <a:p>
            <a:r>
              <a:rPr lang="pt-BR" sz="2000" dirty="0">
                <a:solidFill>
                  <a:schemeClr val="accent2"/>
                </a:solidFill>
              </a:rPr>
              <a:t>A acessibilidade digital é um compromisso de todos. Juntos, construímos </a:t>
            </a:r>
            <a:r>
              <a:rPr lang="pt-BR" sz="2000" b="1" dirty="0">
                <a:solidFill>
                  <a:schemeClr val="accent2"/>
                </a:solidFill>
              </a:rPr>
              <a:t>inclusão de fato</a:t>
            </a:r>
            <a:r>
              <a:rPr lang="pt-BR" sz="2000" dirty="0">
                <a:solidFill>
                  <a:schemeClr val="accent2"/>
                </a:solidFill>
              </a:rPr>
              <a:t>.</a:t>
            </a:r>
          </a:p>
          <a:p>
            <a:endParaRPr lang="pt-BR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ulo 1">
            <a:extLst>
              <a:ext uri="{FF2B5EF4-FFF2-40B4-BE49-F238E27FC236}">
                <a16:creationId xmlns:a16="http://schemas.microsoft.com/office/drawing/2014/main" id="{EC112F46-5108-40C3-808D-99567C1815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7171" name="Espaço Reservado para Conteúdo 4" descr="Uma imagem contendo Forma&#10;&#10;Descrição gerada automaticamente">
            <a:extLst>
              <a:ext uri="{FF2B5EF4-FFF2-40B4-BE49-F238E27FC236}">
                <a16:creationId xmlns:a16="http://schemas.microsoft.com/office/drawing/2014/main" id="{3179E142-1D8E-4F12-A1B5-DEAE3BD929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7172" name="Imagem 6" descr="Logotipo&#10;&#10;Descrição gerada automaticamente com confiança baixa">
            <a:extLst>
              <a:ext uri="{FF2B5EF4-FFF2-40B4-BE49-F238E27FC236}">
                <a16:creationId xmlns:a16="http://schemas.microsoft.com/office/drawing/2014/main" id="{1FB7FF44-5FE7-4823-AD16-37782FFAD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3" y="2763838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DAED1B117F6894D909B25A69A4597D2" ma:contentTypeVersion="11" ma:contentTypeDescription="Crie um novo documento." ma:contentTypeScope="" ma:versionID="fc0e1081098a96f1fc26b259e7bbb1c8">
  <xsd:schema xmlns:xsd="http://www.w3.org/2001/XMLSchema" xmlns:xs="http://www.w3.org/2001/XMLSchema" xmlns:p="http://schemas.microsoft.com/office/2006/metadata/properties" xmlns:ns2="0cd93fe2-0880-41f5-aab4-f958682b72cb" xmlns:ns3="18000554-2c77-4cf4-9366-a485aa9d7e35" targetNamespace="http://schemas.microsoft.com/office/2006/metadata/properties" ma:root="true" ma:fieldsID="f39cd65ee00b5e4c5dd2756fb7575f2f" ns2:_="" ns3:_="">
    <xsd:import namespace="0cd93fe2-0880-41f5-aab4-f958682b72cb"/>
    <xsd:import namespace="18000554-2c77-4cf4-9366-a485aa9d7e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d93fe2-0880-41f5-aab4-f958682b72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000554-2c77-4cf4-9366-a485aa9d7e35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EB3752F-42B6-452F-9AAE-531B322245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d93fe2-0880-41f5-aab4-f958682b72cb"/>
    <ds:schemaRef ds:uri="18000554-2c77-4cf4-9366-a485aa9d7e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4661556-5590-415F-9315-F9BACBDA7B8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952</TotalTime>
  <Words>541</Words>
  <Application>Microsoft Office PowerPoint</Application>
  <PresentationFormat>Widescreen</PresentationFormat>
  <Paragraphs>91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20" baseType="lpstr">
      <vt:lpstr>ＭＳ Ｐゴシック</vt:lpstr>
      <vt:lpstr>Arial</vt:lpstr>
      <vt:lpstr>Calibri</vt:lpstr>
      <vt:lpstr>Calibri Light</vt:lpstr>
      <vt:lpstr>Segoe UI</vt:lpstr>
      <vt:lpstr>Verdana</vt:lpstr>
      <vt:lpstr>Wingdings</vt:lpstr>
      <vt:lpstr>YACgEev4gKc_0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Criação 04</dc:creator>
  <cp:lastModifiedBy>user</cp:lastModifiedBy>
  <cp:revision>29</cp:revision>
  <dcterms:created xsi:type="dcterms:W3CDTF">2021-05-14T17:32:15Z</dcterms:created>
  <dcterms:modified xsi:type="dcterms:W3CDTF">2026-10-15T15:11:12Z</dcterms:modified>
</cp:coreProperties>
</file>